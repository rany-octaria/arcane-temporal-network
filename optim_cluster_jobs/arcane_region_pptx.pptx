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0" d="100"/>
          <a:sy n="100" d="100"/>
        </p:scale>
        <p:origin x="946" y="39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ARCANE — Regional Beta Calibration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ESBL Transmission Rate by Region and Facility Type</a:t>
            </a:r>
            <a:br/>
            <a:br/>
            <a:r>
              <a:t>MESuRS/Cnam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Study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b="1"/>
              <a:t>Goal:</a:t>
            </a:r>
            <a:r>
              <a:t> Estimate β — the daily within-hospital ESBL transmission rate — per facility type</a:t>
            </a:r>
          </a:p>
          <a:p>
            <a:pPr lvl="0"/>
            <a:r>
              <a:rPr b="1"/>
              <a:t>Model:</a:t>
            </a:r>
            <a:r>
              <a:t> Stochastic SIS on the PMSI inter-hospital transfer network</a:t>
            </a:r>
          </a:p>
          <a:p>
            <a:pPr lvl="0"/>
            <a:r>
              <a:rPr b="1"/>
              <a:t>Target:</a:t>
            </a:r>
            <a:r>
              <a:t> SPARES ESBL incidence by facility type × region</a:t>
            </a:r>
          </a:p>
          <a:p>
            <a:pPr lvl="0"/>
            <a:r>
              <a:rPr b="1"/>
              <a:t>Regions calibrated:</a:t>
            </a:r>
            <a:r>
              <a:t> 12 French administrative regions</a:t>
            </a:r>
          </a:p>
          <a:p>
            <a:pPr lvl="0"/>
            <a:r>
              <a:rPr b="1"/>
              <a:t>Runs per region:</a:t>
            </a:r>
            <a:r>
              <a:t> 10 independent Nelder-Mead optimisations (best selected)</a:t>
            </a:r>
          </a:p>
          <a:p>
            <a:pPr lvl="0"/>
            <a:r>
              <a:rPr b="1"/>
              <a:t>Facility types:</a:t>
            </a:r>
            <a:r>
              <a:t> Cancer centre (CLCC), General public hospital, Private for profit hospital, Private not-for-profit hospital, Rehabilitation hospital, University hospital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4294967295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b="1" dirty="0"/>
              <a:t>Goal:</a:t>
            </a:r>
            <a:r>
              <a:rPr dirty="0"/>
              <a:t> Estimate β — the daily within-hospital ESBL transmission rate — per facility type</a:t>
            </a:r>
          </a:p>
          <a:p>
            <a:pPr lvl="0"/>
            <a:r>
              <a:rPr b="1" dirty="0"/>
              <a:t>Model:</a:t>
            </a:r>
            <a:r>
              <a:rPr dirty="0"/>
              <a:t> Stochastic SIS on the PMSI inter-hospital transfer network</a:t>
            </a:r>
          </a:p>
          <a:p>
            <a:pPr lvl="0"/>
            <a:r>
              <a:rPr b="1" dirty="0"/>
              <a:t>Target:</a:t>
            </a:r>
            <a:r>
              <a:rPr dirty="0"/>
              <a:t> SPARES ESBL incidence by facility type × region</a:t>
            </a:r>
          </a:p>
          <a:p>
            <a:pPr lvl="0"/>
            <a:r>
              <a:rPr b="1" dirty="0"/>
              <a:t>Regions calibrated:</a:t>
            </a:r>
            <a:r>
              <a:rPr dirty="0"/>
              <a:t> 12 French administrative regions</a:t>
            </a:r>
          </a:p>
          <a:p>
            <a:pPr lvl="0"/>
            <a:r>
              <a:rPr b="1" dirty="0"/>
              <a:t>Runs per region:</a:t>
            </a:r>
            <a:r>
              <a:rPr dirty="0"/>
              <a:t> 10 independent Nelder-Mead </a:t>
            </a:r>
            <a:r>
              <a:rPr dirty="0" err="1"/>
              <a:t>optimisations</a:t>
            </a:r>
            <a:r>
              <a:rPr dirty="0"/>
              <a:t> (best selected)</a:t>
            </a:r>
          </a:p>
          <a:p>
            <a:pPr lvl="0"/>
            <a:r>
              <a:rPr b="1" dirty="0"/>
              <a:t>Facility types:</a:t>
            </a:r>
            <a:r>
              <a:rPr dirty="0"/>
              <a:t> Cancer </a:t>
            </a:r>
            <a:r>
              <a:rPr dirty="0" err="1"/>
              <a:t>centre</a:t>
            </a:r>
            <a:r>
              <a:rPr dirty="0"/>
              <a:t> (CLCC), General public hospital, Private for profit hospital, Private not-for-profit hospital, Rehabilitation hospital, University hospital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Cross-regional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Calibration quality by region (MAPE)</a:t>
            </a:r>
          </a:p>
        </p:txBody>
      </p:sp>
      <p:pic>
        <p:nvPicPr>
          <p:cNvPr id="3" name="Picture 1" descr="arcane_region_pptx_files/arcane_region_pptx_files/figure-pptx/mape-bar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5900" y="1193800"/>
            <a:ext cx="615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Beta heatmap — type × region</a:t>
            </a:r>
          </a:p>
        </p:txBody>
      </p:sp>
      <p:pic>
        <p:nvPicPr>
          <p:cNvPr id="3" name="Picture 1" descr="arcane_region_pptx_files/arcane_region_pptx_files/figure-pptx/beta-heatmap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5900" y="1193800"/>
            <a:ext cx="615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National beta — weighted geometric mean</a:t>
            </a:r>
          </a:p>
        </p:txBody>
      </p:sp>
      <p:pic>
        <p:nvPicPr>
          <p:cNvPr id="3" name="Picture 1" descr="arcane_region_pptx_files/arcane_region_pptx_files/figure-pptx/national-beta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Observed vs simulated — all regions</a:t>
            </a:r>
          </a:p>
        </p:txBody>
      </p:sp>
      <p:pic>
        <p:nvPicPr>
          <p:cNvPr id="3" name="Picture 1" descr="arcane_region_pptx_files/arcane_region_pptx_files/figure-pptx/obs-sim-all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5900" y="1193800"/>
            <a:ext cx="615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Percentage error — type × region</a:t>
            </a:r>
          </a:p>
        </p:txBody>
      </p:sp>
      <p:pic>
        <p:nvPicPr>
          <p:cNvPr id="3" name="Picture 1" descr="arcane_region_pptx_files/arcane_region_pptx_files/figure-pptx/pct-error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5900" y="1193800"/>
            <a:ext cx="615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Beta variability across regions</a:t>
            </a:r>
          </a:p>
        </p:txBody>
      </p:sp>
      <p:pic>
        <p:nvPicPr>
          <p:cNvPr id="3" name="Picture 1" descr="arcane_region_pptx_files/arcane_region_pptx_files/figure-pptx/beta-boxplo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Hospitals per region</a:t>
            </a:r>
          </a:p>
        </p:txBody>
      </p:sp>
      <p:pic>
        <p:nvPicPr>
          <p:cNvPr id="3" name="Picture 1" descr="arcane_region_pptx_files/arcane_region_pptx_files/figure-pptx/hosp-per-region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Fit metrics summary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2871643"/>
              </p:ext>
            </p:extLst>
          </p:nvPr>
        </p:nvGraphicFramePr>
        <p:xfrm>
          <a:off x="457200" y="1193800"/>
          <a:ext cx="8229600" cy="3863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Hospitals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MAPE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SSE/type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Auvergne-Rhône-Alpes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Centre-Val de Loire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Bretagne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Grand-Est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Pays de la Loire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Bourgogne-Franche-Comté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Occitanie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Nouvelle-Aquitaine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Hauts-de-France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Normandie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Île-de-France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15.48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Provence-Alpes-Côte d’Azur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16.42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0.0134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Sorted by MAPE (best at top). MAPE and R² are scale-free.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Individual Region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Île-de-France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H = 353 hospitals | MAPE = 15.5% | R² = 0.976 | SSE = 0.05990</a:t>
            </a:r>
          </a:p>
        </p:txBody>
      </p:sp>
      <p:pic>
        <p:nvPicPr>
          <p:cNvPr id="3" name="Picture 1" descr="arcane_region_pptx_files/arcane_region_pptx_files/figure-pptx/region-slides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Île-de-France — Beta estimates</a:t>
            </a:r>
          </a:p>
        </p:txBody>
      </p:sp>
      <p:pic>
        <p:nvPicPr>
          <p:cNvPr id="3" name="Picture 1" descr="arcane_region_pptx_files/arcane_region_pptx_files/figure-pptx/region-slides-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Auvergne-Rhône-Alpes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H = 287 hospitals | MAPE = 2.9% | R² = 0.981 | SSE = 0.00128</a:t>
            </a:r>
          </a:p>
        </p:txBody>
      </p:sp>
      <p:pic>
        <p:nvPicPr>
          <p:cNvPr id="3" name="Picture 1" descr="arcane_region_pptx_files/arcane_region_pptx_files/figure-pptx/region-slides-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Auvergne-Rhône-Alpes — Beta estimates</a:t>
            </a:r>
          </a:p>
        </p:txBody>
      </p:sp>
      <p:pic>
        <p:nvPicPr>
          <p:cNvPr id="3" name="Picture 1" descr="arcane_region_pptx_files/arcane_region_pptx_files/figure-pptx/region-slides-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Bourgogne-Franche-Comté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H = 118 hospitals | MAPE = 8.1% | R² = 0.978 | SSE = 0.00167</a:t>
            </a:r>
          </a:p>
        </p:txBody>
      </p:sp>
      <p:pic>
        <p:nvPicPr>
          <p:cNvPr id="3" name="Picture 1" descr="arcane_region_pptx_files/arcane_region_pptx_files/figure-pptx/region-slides-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Bourgogne-Franche-Comté — Beta estimates</a:t>
            </a:r>
          </a:p>
        </p:txBody>
      </p:sp>
      <p:pic>
        <p:nvPicPr>
          <p:cNvPr id="3" name="Picture 1" descr="arcane_region_pptx_files/arcane_region_pptx_files/figure-pptx/region-slides-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Bretagne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H = 132 hospitals | MAPE = 5.1% | R² = 0.964 | SSE = 0.00164</a:t>
            </a:r>
          </a:p>
        </p:txBody>
      </p:sp>
      <p:pic>
        <p:nvPicPr>
          <p:cNvPr id="3" name="Picture 1" descr="arcane_region_pptx_files/arcane_region_pptx_files/figure-pptx/region-slides-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Bretagne — Beta estimates</a:t>
            </a:r>
          </a:p>
        </p:txBody>
      </p:sp>
      <p:pic>
        <p:nvPicPr>
          <p:cNvPr id="3" name="Picture 1" descr="arcane_region_pptx_files/arcane_region_pptx_files/figure-pptx/region-slides-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Centre-Val de Loire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H = 93 hospitals | MAPE = 3.4% | R² = 0.996 | SSE = 0.00127</a:t>
            </a:r>
          </a:p>
        </p:txBody>
      </p:sp>
      <p:pic>
        <p:nvPicPr>
          <p:cNvPr id="3" name="Picture 1" descr="arcane_region_pptx_files/arcane_region_pptx_files/figure-pptx/region-slides-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Centre-Val de Loire — Beta estimates</a:t>
            </a:r>
          </a:p>
        </p:txBody>
      </p:sp>
      <p:pic>
        <p:nvPicPr>
          <p:cNvPr id="3" name="Picture 1" descr="arcane_region_pptx_files/arcane_region_pptx_files/figure-pptx/region-slides-10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Grand-Est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H = 235 hospitals | MAPE = 6.8% | R² = 0.976 | SSE = 0.00627</a:t>
            </a:r>
          </a:p>
        </p:txBody>
      </p:sp>
      <p:pic>
        <p:nvPicPr>
          <p:cNvPr id="3" name="Picture 1" descr="arcane_region_pptx_files/arcane_region_pptx_files/figure-pptx/region-slides-1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Grand-Est — Beta estimates</a:t>
            </a:r>
          </a:p>
        </p:txBody>
      </p:sp>
      <p:pic>
        <p:nvPicPr>
          <p:cNvPr id="3" name="Picture 1" descr="arcane_region_pptx_files/arcane_region_pptx_files/figure-pptx/region-slides-1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Hauts-de-France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H = 208 hospitals | MAPE = 8.7% | R² = 0.993 | SSE = 0.01576</a:t>
            </a:r>
          </a:p>
        </p:txBody>
      </p:sp>
      <p:pic>
        <p:nvPicPr>
          <p:cNvPr id="3" name="Picture 1" descr="arcane_region_pptx_files/arcane_region_pptx_files/figure-pptx/region-slides-1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Hauts-de-France — Beta estimates</a:t>
            </a:r>
          </a:p>
        </p:txBody>
      </p:sp>
      <p:pic>
        <p:nvPicPr>
          <p:cNvPr id="3" name="Picture 1" descr="arcane_region_pptx_files/arcane_region_pptx_files/figure-pptx/region-slides-1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Normandie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H = 126 hospitals | MAPE = 10.7% | R² = 0.993 | SSE = 0.01060</a:t>
            </a:r>
          </a:p>
        </p:txBody>
      </p:sp>
      <p:pic>
        <p:nvPicPr>
          <p:cNvPr id="3" name="Picture 1" descr="arcane_region_pptx_files/arcane_region_pptx_files/figure-pptx/region-slides-1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Normandie — Beta estimates</a:t>
            </a:r>
          </a:p>
        </p:txBody>
      </p:sp>
      <p:pic>
        <p:nvPicPr>
          <p:cNvPr id="3" name="Picture 1" descr="arcane_region_pptx_files/arcane_region_pptx_files/figure-pptx/region-slides-1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Nouvelle-Aquitaine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H = 248 hospitals | MAPE = 8.3% | R² = 0.984 | SSE = 0.01318</a:t>
            </a:r>
          </a:p>
        </p:txBody>
      </p:sp>
      <p:pic>
        <p:nvPicPr>
          <p:cNvPr id="3" name="Picture 1" descr="arcane_region_pptx_files/arcane_region_pptx_files/figure-pptx/region-slides-1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Nouvelle-Aquitaine — Beta estimates</a:t>
            </a:r>
          </a:p>
        </p:txBody>
      </p:sp>
      <p:pic>
        <p:nvPicPr>
          <p:cNvPr id="3" name="Picture 1" descr="arcane_region_pptx_files/arcane_region_pptx_files/figure-pptx/region-slides-1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Occitanie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H = 291 hospitals | MAPE = 8.3% | R² = 0.763 | SSE = 0.01751</a:t>
            </a:r>
          </a:p>
        </p:txBody>
      </p:sp>
      <p:pic>
        <p:nvPicPr>
          <p:cNvPr id="3" name="Picture 1" descr="arcane_region_pptx_files/arcane_region_pptx_files/figure-pptx/region-slides-1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Occitanie — Beta estimates</a:t>
            </a:r>
          </a:p>
        </p:txBody>
      </p:sp>
      <p:pic>
        <p:nvPicPr>
          <p:cNvPr id="3" name="Picture 1" descr="arcane_region_pptx_files/arcane_region_pptx_files/figure-pptx/region-slides-20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Pays de la Loire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H = 149 hospitals | MAPE = 7.3% | R² = 0.992 | SSE = 0.00246</a:t>
            </a:r>
          </a:p>
        </p:txBody>
      </p:sp>
      <p:pic>
        <p:nvPicPr>
          <p:cNvPr id="3" name="Picture 1" descr="arcane_region_pptx_files/arcane_region_pptx_files/figure-pptx/region-slides-2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Pays de la Loire — Beta estimates</a:t>
            </a:r>
          </a:p>
        </p:txBody>
      </p:sp>
      <p:pic>
        <p:nvPicPr>
          <p:cNvPr id="3" name="Picture 1" descr="arcane_region_pptx_files/arcane_region_pptx_files/figure-pptx/region-slides-2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Provence-Alpes-Côte d’Azur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H = 262 hospitals | MAPE = 16.4% | R² = 0.982 | SSE = 0.08037</a:t>
            </a:r>
          </a:p>
        </p:txBody>
      </p:sp>
      <p:pic>
        <p:nvPicPr>
          <p:cNvPr id="3" name="Picture 1" descr="arcane_region_pptx_files/arcane_region_pptx_files/figure-pptx/region-slides-2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Provence-Alpes-Côte d’Azur — Beta estimates</a:t>
            </a:r>
          </a:p>
        </p:txBody>
      </p:sp>
      <p:pic>
        <p:nvPicPr>
          <p:cNvPr id="3" name="Picture 1" descr="arcane_region_pptx_files/arcane_region_pptx_files/figure-pptx/region-slides-2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Microsoft Office PowerPoint</Application>
  <PresentationFormat>On-screen Show (16:9)</PresentationFormat>
  <Paragraphs>142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ARCANE — Regional Beta Calibration</vt:lpstr>
      <vt:lpstr>Overview</vt:lpstr>
      <vt:lpstr>Study context</vt:lpstr>
      <vt:lpstr>Cross-regional comparison</vt:lpstr>
      <vt:lpstr>Calibration quality by region (MAPE)</vt:lpstr>
      <vt:lpstr>Beta heatmap — type × region</vt:lpstr>
      <vt:lpstr>National beta — weighted geometric mean</vt:lpstr>
      <vt:lpstr>Observed vs simulated — all regions</vt:lpstr>
      <vt:lpstr>Percentage error — type × region</vt:lpstr>
      <vt:lpstr>Beta variability across regions</vt:lpstr>
      <vt:lpstr>Hospitals per region</vt:lpstr>
      <vt:lpstr>Fit metrics summary table</vt:lpstr>
      <vt:lpstr>Individual Region Reports</vt:lpstr>
      <vt:lpstr>Île-de-France</vt:lpstr>
      <vt:lpstr>Île-de-France — Beta estimates</vt:lpstr>
      <vt:lpstr>Auvergne-Rhône-Alpes</vt:lpstr>
      <vt:lpstr>Auvergne-Rhône-Alpes — Beta estimates</vt:lpstr>
      <vt:lpstr>Bourgogne-Franche-Comté</vt:lpstr>
      <vt:lpstr>Bourgogne-Franche-Comté — Beta estimates</vt:lpstr>
      <vt:lpstr>Bretagne</vt:lpstr>
      <vt:lpstr>Bretagne — Beta estimates</vt:lpstr>
      <vt:lpstr>Centre-Val de Loire</vt:lpstr>
      <vt:lpstr>Centre-Val de Loire — Beta estimates</vt:lpstr>
      <vt:lpstr>Grand-Est</vt:lpstr>
      <vt:lpstr>Grand-Est — Beta estimates</vt:lpstr>
      <vt:lpstr>Hauts-de-France</vt:lpstr>
      <vt:lpstr>Hauts-de-France — Beta estimates</vt:lpstr>
      <vt:lpstr>Normandie</vt:lpstr>
      <vt:lpstr>Normandie — Beta estimates</vt:lpstr>
      <vt:lpstr>Nouvelle-Aquitaine</vt:lpstr>
      <vt:lpstr>Nouvelle-Aquitaine — Beta estimates</vt:lpstr>
      <vt:lpstr>Occitanie</vt:lpstr>
      <vt:lpstr>Occitanie — Beta estimates</vt:lpstr>
      <vt:lpstr>Pays de la Loire</vt:lpstr>
      <vt:lpstr>Pays de la Loire — Beta estimates</vt:lpstr>
      <vt:lpstr>Provence-Alpes-Côte d’Azur</vt:lpstr>
      <vt:lpstr>Provence-Alpes-Côte d’Azur — Beta estimates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ARCANE — Regional Beta Calibration</dc:title>
  <dc:creator>MESuRS/Cnam</dc:creator>
  <cp:keywords/>
  <cp:lastModifiedBy>OCTARIA Rany</cp:lastModifiedBy>
  <cp:revision>1</cp:revision>
  <dcterms:created xsi:type="dcterms:W3CDTF">2026-08-25T14:24:10Z</dcterms:created>
  <dcterms:modified xsi:type="dcterms:W3CDTF">2026-08-26T11:59:30Z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August 2026</vt:lpwstr>
  </property>
  <property fmtid="{D5CDD505-2E9C-101B-9397-08002B2CF9AE}" pid="3" name="output">
    <vt:lpwstr/>
  </property>
  <property fmtid="{D5CDD505-2E9C-101B-9397-08002B2CF9AE}" pid="4" name="subtitle">
    <vt:lpwstr>ESBL Transmission Rate by Region and Facility Type</vt:lpwstr>
  </property>
</Properties>
</file>